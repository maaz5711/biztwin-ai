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BFE3D-D1AD-4D95-A6C5-0AD3FA2F9A0D}" v="1" dt="2026-07-08T14:57:57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9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z Ahmed" userId="6c74bf5fef02c010" providerId="LiveId" clId="{5503090C-6ED8-4308-AE8C-ECFBD6EA8231}"/>
    <pc:docChg chg="undo custSel modSld">
      <pc:chgData name="Maaz Ahmed" userId="6c74bf5fef02c010" providerId="LiveId" clId="{5503090C-6ED8-4308-AE8C-ECFBD6EA8231}" dt="2026-07-08T14:57:57.483" v="2"/>
      <pc:docMkLst>
        <pc:docMk/>
      </pc:docMkLst>
      <pc:sldChg chg="modSp mod">
        <pc:chgData name="Maaz Ahmed" userId="6c74bf5fef02c010" providerId="LiveId" clId="{5503090C-6ED8-4308-AE8C-ECFBD6EA8231}" dt="2026-07-08T14:57:57.483" v="2"/>
        <pc:sldMkLst>
          <pc:docMk/>
          <pc:sldMk cId="0" sldId="270"/>
        </pc:sldMkLst>
        <pc:spChg chg="mod">
          <ac:chgData name="Maaz Ahmed" userId="6c74bf5fef02c010" providerId="LiveId" clId="{5503090C-6ED8-4308-AE8C-ECFBD6EA8231}" dt="2026-07-08T14:57:57.483" v="2"/>
          <ac:spMkLst>
            <pc:docMk/>
            <pc:sldMk cId="0" sldId="270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Revenue Mix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66-4808-AAF7-A72D9277B58D}"/>
              </c:ext>
            </c:extLst>
          </c:dPt>
          <c:dPt>
            <c:idx val="1"/>
            <c:bubble3D val="0"/>
            <c:spPr>
              <a:solidFill>
                <a:srgbClr val="1B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66-4808-AAF7-A72D9277B58D}"/>
              </c:ext>
            </c:extLst>
          </c:dPt>
          <c:dPt>
            <c:idx val="2"/>
            <c:bubble3D val="0"/>
            <c:spPr>
              <a:solidFill>
                <a:srgbClr val="E861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66-4808-AAF7-A72D9277B58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66-4808-AAF7-A72D9277B58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66-4808-AAF7-A72D9277B58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66-4808-AAF7-A72D9277B58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Retail</c:v>
                </c:pt>
                <c:pt idx="1">
                  <c:v>Wholesale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66-4808-AAF7-A72D9277B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Payroll Cost</c:v>
                </c:pt>
              </c:strCache>
            </c:strRef>
          </c:tx>
          <c:spPr>
            <a:solidFill>
              <a:srgbClr val="E8613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1200000</c:v>
                </c:pt>
                <c:pt idx="1">
                  <c:v>1560000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F-4468-A983-EE0101A1F5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Revenue</c:v>
                </c:pt>
              </c:strCache>
            </c:strRef>
          </c:tx>
          <c:spPr>
            <a:solidFill>
              <a:srgbClr val="1B7A8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4200000</c:v>
                </c:pt>
                <c:pt idx="1">
                  <c:v>4650000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3F-4468-A983-EE0101A1F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50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This is BizTwin: an AI business digital twin built for the AMD hackathon's enterprise AI track. In one sentence: it lets a small business owner ask 'what if' about their own operations and get a real, data-grounded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so the judges know what's coming: problem, solution, how it works, the product experience, why the AI is trustworthy, why AMD, and where this goes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 represents the reality: operational data trapped across disconnected spreadsheets. Right side is the consequence: the owner is left asking questions they can't confidently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issues rarely show up as one dramatic failure — they compound quietly, month over month, which is exactly why they're hard to catch without simulating the decision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BizTwin in one line: upload your data, ask a question, get a decision. The Upload-Ask-Decide loop is the spine of the whole product and the whole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Every arrow is a real handoff in the system: raw files become a structured twin, natural language becomes a scenario, and the scenario becomes a calculated, explained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panels left to right: the dashboard the owner opens first, the question they ask, and the simulated before/after result with a plain-language payback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features, but the point is they compose into one loop, not six disconnected tools — upload feeds the twin, the twin feeds simulation, simulation feeds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second slide judges remember. Walk the bottom strip left to right as a worked example: a question comes in, intent is recognized, the engine computes real margin numbers, and the AI turns that into a recommendation — without ever making up the 18.4% or 14.1%.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AMD Developer Cloud and GPU infrastructure sit under the compute-heavy piece — the twin and simulation engine — while Fireworks AI served LLM inference during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segments, one common thread: real operational data, no dedicated analyst, no BI budget. The market isn't one vertical — it's every small business currently living in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answers 'why would someone pay for this' — risk reduction, time saved, and analyst-grade insight without hiring an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BI tools stop at reporting. BizTwin's whole differentiator is combining a digital twin, a real simulation engine, and conversational AI so the owner can test a decision before making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growth directions: deeper integrations with tools SMBs already use, smarter forecasting intelligence, and scaling the product to multi-branch and mobile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tagline, point to the GitHub repo and live demo,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560320"/>
            <a:ext cx="6400800" cy="6400800"/>
          </a:xfrm>
          <a:prstGeom prst="ellipse">
            <a:avLst/>
          </a:prstGeom>
          <a:solidFill>
            <a:srgbClr val="0F2545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B7A8A">
              <a:alpha val="3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AI HACKATHON  ·  ENTERPRISE AI TRACK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BizTwin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Digital Twin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business what happens next — before it happens.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658368" cy="6583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48" y="493190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5778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065776"/>
            <a:ext cx="256032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14600" y="4846320"/>
            <a:ext cx="658368" cy="658368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188" y="4931908"/>
            <a:ext cx="487192" cy="487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86000" y="55778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5065776"/>
            <a:ext cx="256032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06240" y="4846320"/>
            <a:ext cx="658368" cy="6583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1828" y="4931908"/>
            <a:ext cx="487192" cy="4871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77640" y="55778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5065776"/>
            <a:ext cx="256032" cy="219456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897880" y="4846320"/>
            <a:ext cx="658368" cy="658368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468" y="4931908"/>
            <a:ext cx="487192" cy="4871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669280" y="55778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24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minutes,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566928" cy="566928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33" y="1911645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800" y="1801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1810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21762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SMB decisions are made blind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6336792" y="1837944"/>
            <a:ext cx="566928" cy="56692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493" y="1911645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81360" y="1801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040880" y="1810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040880" y="21762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BizTwin actually is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724912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>
            <a:off x="713232" y="2871216"/>
            <a:ext cx="566928" cy="566928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33" y="2944917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17320" y="28437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417320" y="32095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twin → ask → simulate → explain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2724912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Shape 18"/>
          <p:cNvSpPr/>
          <p:nvPr/>
        </p:nvSpPr>
        <p:spPr>
          <a:xfrm>
            <a:off x="6336792" y="2871216"/>
            <a:ext cx="566928" cy="56692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493" y="2944917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81360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28437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040880" y="32095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experience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375818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3"/>
          <p:cNvSpPr/>
          <p:nvPr/>
        </p:nvSpPr>
        <p:spPr>
          <a:xfrm>
            <a:off x="713232" y="3904488"/>
            <a:ext cx="566928" cy="566928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933" y="3978189"/>
            <a:ext cx="419527" cy="41952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3867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417320" y="38770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trustworthy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1417320" y="42428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explains; a real engine calculates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72200" y="375818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Shape 28"/>
          <p:cNvSpPr/>
          <p:nvPr/>
        </p:nvSpPr>
        <p:spPr>
          <a:xfrm>
            <a:off x="6336792" y="3904488"/>
            <a:ext cx="566928" cy="56692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493" y="3978189"/>
            <a:ext cx="419527" cy="41952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81360" y="3867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040880" y="38770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AMD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7040880" y="42428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it runs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48640" y="479145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1" name="Shape 33"/>
          <p:cNvSpPr/>
          <p:nvPr/>
        </p:nvSpPr>
        <p:spPr>
          <a:xfrm>
            <a:off x="713232" y="4937760"/>
            <a:ext cx="566928" cy="566928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933" y="5011461"/>
            <a:ext cx="419527" cy="419527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257800" y="49011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1417320" y="4910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vision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141732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for, and where it goes next</a:t>
            </a:r>
            <a:endParaRPr lang="en-US" sz="1050" dirty="0"/>
          </a:p>
        </p:txBody>
      </p:sp>
      <p:sp>
        <p:nvSpPr>
          <p:cNvPr id="47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decisions, made on gut feeling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 rot="-360000">
            <a:off x="868680" y="205740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60000"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 rot="-360000">
            <a:off x="100584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sales_q3.xlsx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 rot="-360000">
            <a:off x="1005840" y="297180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 rot="-360000">
            <a:off x="1005840" y="3118104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 rot="-360000">
            <a:off x="1005840" y="3264408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 rot="240000">
            <a:off x="2743200" y="196596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2880360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 rot="240000">
            <a:off x="288036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inventory.csv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 rot="240000">
            <a:off x="2880360" y="288036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 rot="240000">
            <a:off x="2880360" y="3026664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2"/>
          <p:cNvSpPr/>
          <p:nvPr/>
        </p:nvSpPr>
        <p:spPr>
          <a:xfrm rot="240000">
            <a:off x="2880360" y="3172968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 rot="180000">
            <a:off x="1097280" y="365760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234440" y="3794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 rot="180000">
            <a:off x="12344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suppliers_v2.xlsx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 rot="180000">
            <a:off x="1234440" y="457200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6"/>
          <p:cNvSpPr/>
          <p:nvPr/>
        </p:nvSpPr>
        <p:spPr>
          <a:xfrm rot="180000">
            <a:off x="1234440" y="4718304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17"/>
          <p:cNvSpPr/>
          <p:nvPr/>
        </p:nvSpPr>
        <p:spPr>
          <a:xfrm rot="180000">
            <a:off x="1234440" y="4864608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18"/>
          <p:cNvSpPr/>
          <p:nvPr/>
        </p:nvSpPr>
        <p:spPr>
          <a:xfrm rot="-240000">
            <a:off x="3063240" y="3977640"/>
            <a:ext cx="2148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40000">
            <a:off x="3200400" y="41148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 rot="-240000">
            <a:off x="32004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payroll_final.xlsx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 rot="-240000">
            <a:off x="3200400" y="489204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1"/>
          <p:cNvSpPr/>
          <p:nvPr/>
        </p:nvSpPr>
        <p:spPr>
          <a:xfrm rot="-240000">
            <a:off x="3200400" y="5038344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hape 22"/>
          <p:cNvSpPr/>
          <p:nvPr/>
        </p:nvSpPr>
        <p:spPr>
          <a:xfrm rot="-240000">
            <a:off x="3200400" y="5184648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08760"/>
            <a:ext cx="594360" cy="59436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5943600" y="1737360"/>
            <a:ext cx="822960" cy="82296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585" y="1844345"/>
            <a:ext cx="608990" cy="6089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943600" y="27432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exists — sales, inventory, supplier costs, payroll — but it sits scattered across spreadsheets.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answer big questions — switch suppliers? hire staff? drop a product? — from instinct, not analysis.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 platforms are too expensive and too technical for a business with no data team.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of flying blind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9" y="213466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319272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ties up cash; understocking loses sales.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4069080"/>
            <a:ext cx="2139696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04672" y="418795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quiet, compounding.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20440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9"/>
          <p:cNvSpPr/>
          <p:nvPr/>
        </p:nvSpPr>
        <p:spPr>
          <a:xfrm>
            <a:off x="3776472" y="2057400"/>
            <a:ext cx="594360" cy="5943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739" y="2134667"/>
            <a:ext cx="439826" cy="439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76472" y="28346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supplier calls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76472" y="3319272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hikes absorbed blindly, quietly eating margin.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776472" y="4069080"/>
            <a:ext cx="2139696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3"/>
          <p:cNvSpPr/>
          <p:nvPr/>
        </p:nvSpPr>
        <p:spPr>
          <a:xfrm>
            <a:off x="3776472" y="418795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quiet, compounding.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492240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5"/>
          <p:cNvSpPr/>
          <p:nvPr/>
        </p:nvSpPr>
        <p:spPr>
          <a:xfrm>
            <a:off x="6748272" y="2057400"/>
            <a:ext cx="594360" cy="5943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539" y="2134667"/>
            <a:ext cx="439826" cy="43982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48272" y="28346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hiring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748272" y="3319272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headcount added without modeling the payback.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748272" y="4069080"/>
            <a:ext cx="2139696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19"/>
          <p:cNvSpPr/>
          <p:nvPr/>
        </p:nvSpPr>
        <p:spPr>
          <a:xfrm>
            <a:off x="6748272" y="418795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quiet, compounding.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464040" y="1783080"/>
            <a:ext cx="2651760" cy="2788920"/>
          </a:xfrm>
          <a:prstGeom prst="roundRect">
            <a:avLst>
              <a:gd name="adj" fmla="val 3448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1"/>
          <p:cNvSpPr/>
          <p:nvPr/>
        </p:nvSpPr>
        <p:spPr>
          <a:xfrm>
            <a:off x="9720072" y="2057400"/>
            <a:ext cx="594360" cy="5943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339" y="2134667"/>
            <a:ext cx="439826" cy="43982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20072" y="28346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to Excel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720072" y="3319272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instead of running the business.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720072" y="4069080"/>
            <a:ext cx="2139696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5"/>
          <p:cNvSpPr/>
          <p:nvPr/>
        </p:nvSpPr>
        <p:spPr>
          <a:xfrm>
            <a:off x="9720072" y="418795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Common, quiet, compounding.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F2545">
              <a:alpha val="55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BizTwin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Business Digital Twin that lets you simulate business decisions in plain English — using your own data.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3246120"/>
            <a:ext cx="1280160" cy="12801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61" y="3412541"/>
            <a:ext cx="947318" cy="9473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636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721608"/>
            <a:ext cx="457200" cy="384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246120"/>
            <a:ext cx="1280160" cy="128016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01" y="3412541"/>
            <a:ext cx="947318" cy="9473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89120" y="4636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721608"/>
            <a:ext cx="457200" cy="38404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046720" y="3246120"/>
            <a:ext cx="1280160" cy="12801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141" y="3412541"/>
            <a:ext cx="947318" cy="9473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80960" y="4636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22960" y="5760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words. One product philosophy: separate what the AI understands from what the engine calculates.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spreadsheet to simulated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640080" y="1709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731520" cy="7315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18" y="21524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3410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suppliers, employees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4389120"/>
            <a:ext cx="1737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CSV / Excel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291840"/>
            <a:ext cx="164592" cy="1463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0" y="16002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0"/>
          <p:cNvSpPr/>
          <p:nvPr/>
        </p:nvSpPr>
        <p:spPr>
          <a:xfrm>
            <a:off x="2880360" y="1709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29000" y="2057400"/>
            <a:ext cx="731520" cy="7315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098" y="215249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twin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880360" y="3410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model of the business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926080" y="4389120"/>
            <a:ext cx="1737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5"/>
          <p:cNvSpPr/>
          <p:nvPr/>
        </p:nvSpPr>
        <p:spPr>
          <a:xfrm>
            <a:off x="288036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Unified model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164592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983480" y="16002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Text 17"/>
          <p:cNvSpPr/>
          <p:nvPr/>
        </p:nvSpPr>
        <p:spPr>
          <a:xfrm>
            <a:off x="5120640" y="1709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669280" y="2057400"/>
            <a:ext cx="731520" cy="7315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378" y="2152498"/>
            <a:ext cx="541325" cy="5413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2064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120640" y="3410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no dashboards to learn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166360" y="4389120"/>
            <a:ext cx="1737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2"/>
          <p:cNvSpPr/>
          <p:nvPr/>
        </p:nvSpPr>
        <p:spPr>
          <a:xfrm>
            <a:off x="512064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Natural language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291840"/>
            <a:ext cx="164592" cy="146304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223760" y="16002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Text 24"/>
          <p:cNvSpPr/>
          <p:nvPr/>
        </p:nvSpPr>
        <p:spPr>
          <a:xfrm>
            <a:off x="7360920" y="1709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7909560" y="2057400"/>
            <a:ext cx="731520" cy="7315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4658" y="2152498"/>
            <a:ext cx="541325" cy="54132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36092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7360920" y="3410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the scenario on real data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406640" y="4389120"/>
            <a:ext cx="1737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29"/>
          <p:cNvSpPr/>
          <p:nvPr/>
        </p:nvSpPr>
        <p:spPr>
          <a:xfrm>
            <a:off x="736092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Financial deltas</a:t>
            </a:r>
            <a:endParaRPr lang="en-US" sz="9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291840"/>
            <a:ext cx="164592" cy="146304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464040" y="16002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1" name="Text 31"/>
          <p:cNvSpPr/>
          <p:nvPr/>
        </p:nvSpPr>
        <p:spPr>
          <a:xfrm>
            <a:off x="9601200" y="1709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4938" y="2152498"/>
            <a:ext cx="541325" cy="54132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601200" y="2953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350" dirty="0"/>
          </a:p>
        </p:txBody>
      </p:sp>
      <p:sp>
        <p:nvSpPr>
          <p:cNvPr id="45" name="Text 34"/>
          <p:cNvSpPr/>
          <p:nvPr/>
        </p:nvSpPr>
        <p:spPr>
          <a:xfrm>
            <a:off x="9601200" y="34107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reasoning, before vs. after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9646920" y="4389120"/>
            <a:ext cx="17373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36"/>
          <p:cNvSpPr/>
          <p:nvPr/>
        </p:nvSpPr>
        <p:spPr>
          <a:xfrm>
            <a:off x="9601200" y="4480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Plain-language answer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owner sees,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320040"/>
          </a:xfrm>
          <a:prstGeom prst="rect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841248" y="164592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1042416" y="164592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95528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4.2M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20574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487168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2359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5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85800" y="3063240"/>
          <a:ext cx="32461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50292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Dashboard at a glance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97680" y="155448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0A1A34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5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660" y="184846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636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BizTwin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526280" y="2468880"/>
            <a:ext cx="3108960" cy="777240"/>
          </a:xfrm>
          <a:prstGeom prst="roundRect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18"/>
          <p:cNvSpPr/>
          <p:nvPr/>
        </p:nvSpPr>
        <p:spPr>
          <a:xfrm>
            <a:off x="466344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I hire two more sales reps this quarter?”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26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scenario: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26280" y="3749040"/>
            <a:ext cx="2377440" cy="457200"/>
          </a:xfrm>
          <a:prstGeom prst="roundRect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Text 21"/>
          <p:cNvSpPr/>
          <p:nvPr/>
        </p:nvSpPr>
        <p:spPr>
          <a:xfrm>
            <a:off x="46634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Impact Model</a:t>
            </a:r>
            <a:endParaRPr lang="en-US" sz="11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34340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526280" y="4709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 runs payroll cost vs. projected sales lift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9768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Ask in plain English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092440" y="155448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Text 25"/>
          <p:cNvSpPr/>
          <p:nvPr/>
        </p:nvSpPr>
        <p:spPr>
          <a:xfrm>
            <a:off x="82753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Impact: +2 Sales Reps</a:t>
            </a:r>
            <a:endParaRPr lang="en-US" sz="1250" dirty="0"/>
          </a:p>
        </p:txBody>
      </p:sp>
      <p:graphicFrame>
        <p:nvGraphicFramePr>
          <p:cNvPr id="31" name="Chart 1"/>
          <p:cNvGraphicFramePr/>
          <p:nvPr/>
        </p:nvGraphicFramePr>
        <p:xfrm>
          <a:off x="8229600" y="2194560"/>
          <a:ext cx="3291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Shape 26"/>
          <p:cNvSpPr/>
          <p:nvPr/>
        </p:nvSpPr>
        <p:spPr>
          <a:xfrm>
            <a:off x="8275320" y="46634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27"/>
          <p:cNvSpPr/>
          <p:nvPr/>
        </p:nvSpPr>
        <p:spPr>
          <a:xfrm>
            <a:off x="8412480" y="4663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 ~5 months if sales lift holds.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09244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Before vs. after, explained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concept mockups — not actual product screenshots.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complete feature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96413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ingestion for sales, inventory, suppliers, employees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498848" y="18928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71" y="196413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9884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to the digital twin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8247888" y="18928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211" y="1964131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4788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inventory, and KPIs at a glance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5"/>
          <p:cNvSpPr/>
          <p:nvPr/>
        </p:nvSpPr>
        <p:spPr>
          <a:xfrm>
            <a:off x="749808" y="37216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" y="3792931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Supplier, hiring, and product-discontinuation models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19"/>
          <p:cNvSpPr/>
          <p:nvPr/>
        </p:nvSpPr>
        <p:spPr>
          <a:xfrm>
            <a:off x="4498848" y="37216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171" y="3792931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9884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for every simulated decision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Shape 23"/>
          <p:cNvSpPr/>
          <p:nvPr/>
        </p:nvSpPr>
        <p:spPr>
          <a:xfrm>
            <a:off x="8247888" y="37216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9211" y="3792931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4788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model unifying all business data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— AND WHY IT'S TRUSTWORTHY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understands. Math never lies.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19577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question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right scenario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results in plain language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160020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450" y="19577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947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6517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deterministic math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business's real uploaded data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every financial number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583180"/>
            <a:ext cx="365760" cy="365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85800" y="42519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1"/>
          <p:cNvSpPr/>
          <p:nvPr/>
        </p:nvSpPr>
        <p:spPr>
          <a:xfrm>
            <a:off x="777240" y="4389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“Raise price 15%?”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4782312"/>
            <a:ext cx="219456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74720" y="4389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Supplier Scenario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4782312"/>
            <a:ext cx="219456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72200" y="4389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18.4% → 14.1%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782312"/>
            <a:ext cx="219456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869680" y="4389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“Absorb 40%, pass 60%”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invents a number — it interprets intent and explains outcomes computed from real data.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AMD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on AMD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D2232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4231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Cloud powers the build and deployment environment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GPU infrastructure runs the workload behind the digital twin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Fireworks AI provided LLM inference during development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914400" cy="91440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828032"/>
            <a:ext cx="676656" cy="676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8600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5038344"/>
            <a:ext cx="256032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03120" y="4709160"/>
            <a:ext cx="914400" cy="914400"/>
          </a:xfrm>
          <a:prstGeom prst="ellipse">
            <a:avLst/>
          </a:prstGeom>
          <a:solidFill>
            <a:srgbClr val="D223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92" y="4828032"/>
            <a:ext cx="676656" cy="6766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Compute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5038344"/>
            <a:ext cx="256032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657600" y="4709160"/>
            <a:ext cx="914400" cy="91440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4828032"/>
            <a:ext cx="676656" cy="6766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37560" y="5696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766560" y="1554480"/>
            <a:ext cx="4846320" cy="4251960"/>
          </a:xfrm>
          <a:prstGeom prst="roundRect">
            <a:avLst>
              <a:gd name="adj" fmla="val 2151"/>
            </a:avLst>
          </a:prstGeom>
          <a:solidFill>
            <a:srgbClr val="0A1A34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4"/>
          <p:cNvSpPr/>
          <p:nvPr/>
        </p:nvSpPr>
        <p:spPr>
          <a:xfrm>
            <a:off x="7086600" y="1874520"/>
            <a:ext cx="777240" cy="777240"/>
          </a:xfrm>
          <a:prstGeom prst="ellipse">
            <a:avLst/>
          </a:prstGeom>
          <a:solidFill>
            <a:srgbClr val="D223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641" y="1975561"/>
            <a:ext cx="575158" cy="57515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8660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AI, SMB price point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7086600" y="3337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twin and simulation workload on AMD-powered infrastructure shows that enterprise-grade decision support can be delivered efficiently — without enterprise costs.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7086600" y="4800600"/>
            <a:ext cx="420624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18"/>
          <p:cNvSpPr/>
          <p:nvPr/>
        </p:nvSpPr>
        <p:spPr>
          <a:xfrm>
            <a:off x="7086600" y="4937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hackathon's Enterprise AI on AMD track.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businesses run on spreadsheets.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them have a data team.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95528" y="2331720"/>
            <a:ext cx="1051560" cy="105156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31" y="246842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388108" y="2331720"/>
            <a:ext cx="1051560" cy="10515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811" y="2468423"/>
            <a:ext cx="778154" cy="7781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6806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retailers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980688" y="2331720"/>
            <a:ext cx="1051560" cy="105156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391" y="2468423"/>
            <a:ext cx="778154" cy="7781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6064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573268" y="2331720"/>
            <a:ext cx="1051560" cy="10515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971" y="2468423"/>
            <a:ext cx="778154" cy="7781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322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businesses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165848" y="2331720"/>
            <a:ext cx="1051560" cy="105156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51" y="2468423"/>
            <a:ext cx="778154" cy="7781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4580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758428" y="2331720"/>
            <a:ext cx="1051560" cy="105156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5131" y="2468423"/>
            <a:ext cx="778154" cy="77815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3838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manufacturers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10351008" y="2331720"/>
            <a:ext cx="1051560" cy="105156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7711" y="2468423"/>
            <a:ext cx="778154" cy="77815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30968" y="34930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distributors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548640" y="448056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Text 17"/>
          <p:cNvSpPr/>
          <p:nvPr/>
        </p:nvSpPr>
        <p:spPr>
          <a:xfrm>
            <a:off x="548640" y="4590288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7" name="Text 18"/>
          <p:cNvSpPr/>
          <p:nvPr/>
        </p:nvSpPr>
        <p:spPr>
          <a:xfrm>
            <a:off x="548640" y="516636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084320" y="4590288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Text 20"/>
          <p:cNvSpPr/>
          <p:nvPr/>
        </p:nvSpPr>
        <p:spPr>
          <a:xfrm>
            <a:off x="4084320" y="516636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analysts needed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7620000" y="4590288"/>
            <a:ext cx="353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1" name="Text 22"/>
          <p:cNvSpPr/>
          <p:nvPr/>
        </p:nvSpPr>
        <p:spPr>
          <a:xfrm>
            <a:off x="7620000" y="5166360"/>
            <a:ext cx="353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to a decision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owners actually get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96413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decision risk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outcome before spending real money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498848" y="18928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71" y="196413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9884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an answer instead of hours in Excel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8247888" y="18928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211" y="1964131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1874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clarity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47888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consequence, not just the transaction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Shape 15"/>
          <p:cNvSpPr/>
          <p:nvPr/>
        </p:nvSpPr>
        <p:spPr>
          <a:xfrm>
            <a:off x="749808" y="37216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" y="3792931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hires needed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Analyst-grade insight without an analyst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19"/>
          <p:cNvSpPr/>
          <p:nvPr/>
        </p:nvSpPr>
        <p:spPr>
          <a:xfrm>
            <a:off x="4498848" y="3721608"/>
            <a:ext cx="548640" cy="54864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171" y="3792931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planning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9884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hiring, sourcing, and product decisions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Shape 23"/>
          <p:cNvSpPr/>
          <p:nvPr/>
        </p:nvSpPr>
        <p:spPr>
          <a:xfrm>
            <a:off x="8247888" y="3721608"/>
            <a:ext cx="548640" cy="548640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9211" y="3792931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4283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AI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47888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dashboards, filters, or SQL to learn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&amp; 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shows the past. BizTwin tests the future.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2777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dashboards and reports. Shows what already happened — no way to test a decision first.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0" y="19202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640080" cy="64008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410" y="227777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BizTwin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72200" y="30175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+ simulation + conversational AI. Test the decision before you make it.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4617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B7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“Make advanced business intelligence as accessible as a conversation.”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296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small business should be able to ask ‘what if’ about its own operations — and trust the answer.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hackathon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94360" cy="59436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9" y="2024939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3008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sync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553712" y="1947672"/>
            <a:ext cx="594360" cy="59436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979" y="2024939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9748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intelligence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53712" y="3200400"/>
            <a:ext cx="3008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(ML)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recommendations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forecasting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0F2545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8302752" y="1947672"/>
            <a:ext cx="594360" cy="594360"/>
          </a:xfrm>
          <a:prstGeom prst="ellipse">
            <a:avLst/>
          </a:prstGeom>
          <a:solidFill>
            <a:srgbClr val="E8613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019" y="2024939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9748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access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02752" y="3200400"/>
            <a:ext cx="3008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0F2545">
              <a:alpha val="6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BizTwin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business what happens next — before it happens.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34486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https://github.com/Maaz5711/BizTwin-AI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08874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linked in submission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0F2545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72882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Khalid  ·  Hamza Shehryar  ·  Muhammad Bilal  ·  Maaz Ahmed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1537</Words>
  <Application>Microsoft Office PowerPoint</Application>
  <PresentationFormat>Widescreen</PresentationFormat>
  <Paragraphs>252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BizTwin — AI Business Digital Twin</dc:title>
  <dc:subject>PptxGenJS Presentation</dc:subject>
  <dc:creator>BizTwin Team</dc:creator>
  <cp:lastModifiedBy>Maaz Ahmed FAST NU LAHORE</cp:lastModifiedBy>
  <cp:revision>1</cp:revision>
  <dcterms:created xsi:type="dcterms:W3CDTF">2026-07-07T11:31:32Z</dcterms:created>
  <dcterms:modified xsi:type="dcterms:W3CDTF">2026-07-08T14:58:06Z</dcterms:modified>
</cp:coreProperties>
</file>